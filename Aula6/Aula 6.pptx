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VU3nnLW6Vv+RhpIJIYDIXmAXM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ACF39A-2C35-4303-B2D2-3A7FD282EF5D}">
  <a:tblStyle styleId="{E8ACF39A-2C35-4303-B2D2-3A7FD282EF5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6c0e0f59c_0_0:notes"/>
          <p:cNvSpPr txBox="1"/>
          <p:nvPr>
            <p:ph idx="1" type="body"/>
          </p:nvPr>
        </p:nvSpPr>
        <p:spPr>
          <a:xfrm>
            <a:off x="755968" y="5145429"/>
            <a:ext cx="60477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86c0e0f59c_0_0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3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 para a turma: o que falhou aqui?</a:t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200">
                <a:solidFill>
                  <a:schemeClr val="dk1"/>
                </a:solidFill>
              </a:rPr>
              <a:t>Pergunta provocadora: qual abordagem é mais honesta com o programador?</a:t>
            </a:r>
            <a:endParaRPr b="1"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/>
              <a:t>Se você estiver criando uma classe que herda de um tipo imutável (como </a:t>
            </a:r>
            <a:r>
              <a:rPr b="0" i="0" lang="pt-P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pt-PT"/>
              <a:t>, </a:t>
            </a:r>
            <a:r>
              <a:rPr b="0" i="0" lang="pt-P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pt-PT"/>
              <a:t> ou </a:t>
            </a:r>
            <a:r>
              <a:rPr b="0" i="0" lang="pt-P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lang="pt-PT"/>
              <a:t>), você não pode alterar o objeto no </a:t>
            </a:r>
            <a:r>
              <a:rPr b="0" i="0" lang="pt-P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pt-PT"/>
              <a:t>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1260078" y="928028"/>
            <a:ext cx="7560469" cy="19741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1"/>
              <a:buFont typeface="Calibri"/>
              <a:buNone/>
              <a:defRPr sz="496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260078" y="2978352"/>
            <a:ext cx="7560469" cy="1369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1pPr>
            <a:lvl2pPr lvl="1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2pPr>
            <a:lvl3pPr lvl="2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sz="1488"/>
            </a:lvl3pPr>
            <a:lvl4pPr lvl="3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4pPr>
            <a:lvl5pPr lvl="4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5pPr>
            <a:lvl6pPr lvl="5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6pPr>
            <a:lvl7pPr lvl="6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7pPr>
            <a:lvl8pPr lvl="7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8pPr>
            <a:lvl9pPr lvl="8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 showMasterSp="0">
  <p:cSld name="Título e Legenda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g386c0e0f59c_0_367"/>
          <p:cNvGrpSpPr/>
          <p:nvPr/>
        </p:nvGrpSpPr>
        <p:grpSpPr>
          <a:xfrm>
            <a:off x="0" y="0"/>
            <a:ext cx="10080355" cy="5670880"/>
            <a:chOff x="0" y="0"/>
            <a:chExt cx="12192011" cy="6858000"/>
          </a:xfrm>
        </p:grpSpPr>
        <p:sp>
          <p:nvSpPr>
            <p:cNvPr id="25" name="Google Shape;25;g386c0e0f59c_0_36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86c0e0f59c_0_36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86c0e0f59c_0_36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86c0e0f59c_0_36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86c0e0f59c_0_36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86c0e0f59c_0_36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86c0e0f59c_0_367"/>
            <p:cNvSpPr/>
            <p:nvPr/>
          </p:nvSpPr>
          <p:spPr>
            <a:xfrm rot="-589939">
              <a:off x="8490949" y="2714870"/>
              <a:ext cx="3299413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75600" lIns="75600" spcFirstLastPara="1" rIns="75600" wrap="square" tIns="7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86c0e0f59c_0_367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3" name="Google Shape;33;g386c0e0f59c_0_367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4" name="Google Shape;34;g386c0e0f59c_0_367"/>
          <p:cNvSpPr txBox="1"/>
          <p:nvPr>
            <p:ph type="title"/>
          </p:nvPr>
        </p:nvSpPr>
        <p:spPr>
          <a:xfrm>
            <a:off x="949853" y="879288"/>
            <a:ext cx="73023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Century Gothic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86c0e0f59c_0_367"/>
          <p:cNvSpPr txBox="1"/>
          <p:nvPr>
            <p:ph idx="1" type="body"/>
          </p:nvPr>
        </p:nvSpPr>
        <p:spPr>
          <a:xfrm>
            <a:off x="954942" y="2929784"/>
            <a:ext cx="72972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36" name="Google Shape;36;g386c0e0f59c_0_367"/>
          <p:cNvSpPr txBox="1"/>
          <p:nvPr>
            <p:ph idx="10" type="dt"/>
          </p:nvPr>
        </p:nvSpPr>
        <p:spPr>
          <a:xfrm>
            <a:off x="8808231" y="5285103"/>
            <a:ext cx="819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86c0e0f59c_0_367"/>
          <p:cNvSpPr txBox="1"/>
          <p:nvPr>
            <p:ph idx="11" type="ftr"/>
          </p:nvPr>
        </p:nvSpPr>
        <p:spPr>
          <a:xfrm>
            <a:off x="463939" y="5285103"/>
            <a:ext cx="31914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86c0e0f59c_0_367"/>
          <p:cNvSpPr/>
          <p:nvPr/>
        </p:nvSpPr>
        <p:spPr>
          <a:xfrm>
            <a:off x="8630222" y="0"/>
            <a:ext cx="567000" cy="94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1502" rotWithShape="0" dir="5400000" dist="21002">
              <a:srgbClr val="000000">
                <a:alpha val="44705"/>
              </a:srgbClr>
            </a:outerShdw>
          </a:effectLst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86c0e0f59c_0_367"/>
          <p:cNvSpPr txBox="1"/>
          <p:nvPr>
            <p:ph idx="12" type="sldNum"/>
          </p:nvPr>
        </p:nvSpPr>
        <p:spPr>
          <a:xfrm>
            <a:off x="8559717" y="244524"/>
            <a:ext cx="693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7775" lIns="75600" spcFirstLastPara="1" rIns="75600" wrap="square" tIns="377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Gothic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687793" y="1413700"/>
            <a:ext cx="8694539" cy="23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1"/>
              <a:buFont typeface="Calibri"/>
              <a:buNone/>
              <a:defRPr sz="496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687793" y="3794807"/>
            <a:ext cx="8694539" cy="124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1984"/>
              <a:buNone/>
              <a:defRPr sz="198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654"/>
              <a:buNone/>
              <a:defRPr sz="1654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488"/>
              <a:buNone/>
              <a:defRPr sz="148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7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694356" y="378037"/>
            <a:ext cx="3251264" cy="1323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6"/>
              <a:buFont typeface="Calibri"/>
              <a:buNone/>
              <a:defRPr sz="264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4285579" y="816455"/>
            <a:ext cx="5103316" cy="4029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621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646"/>
            </a:lvl1pPr>
            <a:lvl2pPr indent="-375602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2pPr>
            <a:lvl3pPr indent="-354583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Char char="•"/>
              <a:defRPr sz="1984"/>
            </a:lvl3pPr>
            <a:lvl4pPr indent="-333629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4pPr>
            <a:lvl5pPr indent="-333629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5pPr>
            <a:lvl6pPr indent="-333629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6pPr>
            <a:lvl7pPr indent="-333629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7pPr>
            <a:lvl8pPr indent="-333628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8pPr>
            <a:lvl9pPr indent="-333628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Char char="•"/>
              <a:defRPr sz="1654"/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694356" y="1701165"/>
            <a:ext cx="3251264" cy="315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" type="body"/>
          </p:nvPr>
        </p:nvSpPr>
        <p:spPr>
          <a:xfrm>
            <a:off x="693043" y="1509521"/>
            <a:ext cx="4284266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2" type="body"/>
          </p:nvPr>
        </p:nvSpPr>
        <p:spPr>
          <a:xfrm>
            <a:off x="5103316" y="1509521"/>
            <a:ext cx="4284266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type="title"/>
          </p:nvPr>
        </p:nvSpPr>
        <p:spPr>
          <a:xfrm>
            <a:off x="694356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" type="body"/>
          </p:nvPr>
        </p:nvSpPr>
        <p:spPr>
          <a:xfrm>
            <a:off x="694357" y="1390073"/>
            <a:ext cx="4264576" cy="6812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b="1" sz="1654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b="1" sz="1488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9pPr>
          </a:lstStyle>
          <a:p/>
        </p:txBody>
      </p:sp>
      <p:sp>
        <p:nvSpPr>
          <p:cNvPr id="63" name="Google Shape;63;p32"/>
          <p:cNvSpPr txBox="1"/>
          <p:nvPr>
            <p:ph idx="2" type="body"/>
          </p:nvPr>
        </p:nvSpPr>
        <p:spPr>
          <a:xfrm>
            <a:off x="694357" y="2071326"/>
            <a:ext cx="4264576" cy="30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3" type="body"/>
          </p:nvPr>
        </p:nvSpPr>
        <p:spPr>
          <a:xfrm>
            <a:off x="5103316" y="1390073"/>
            <a:ext cx="4285579" cy="6812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b="1" sz="1654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b="1" sz="1488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9pPr>
          </a:lstStyle>
          <a:p/>
        </p:txBody>
      </p:sp>
      <p:sp>
        <p:nvSpPr>
          <p:cNvPr id="65" name="Google Shape;65;p32"/>
          <p:cNvSpPr txBox="1"/>
          <p:nvPr>
            <p:ph idx="4" type="body"/>
          </p:nvPr>
        </p:nvSpPr>
        <p:spPr>
          <a:xfrm>
            <a:off x="5103316" y="2071326"/>
            <a:ext cx="4285579" cy="30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694356" y="378037"/>
            <a:ext cx="3251264" cy="1323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6"/>
              <a:buFont typeface="Calibri"/>
              <a:buNone/>
              <a:defRPr sz="264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/>
          <p:nvPr>
            <p:ph idx="2" type="pic"/>
          </p:nvPr>
        </p:nvSpPr>
        <p:spPr>
          <a:xfrm>
            <a:off x="4285579" y="816455"/>
            <a:ext cx="5103316" cy="402976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5"/>
          <p:cNvSpPr txBox="1"/>
          <p:nvPr>
            <p:ph idx="1" type="body"/>
          </p:nvPr>
        </p:nvSpPr>
        <p:spPr>
          <a:xfrm>
            <a:off x="694356" y="1701165"/>
            <a:ext cx="3251264" cy="315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9pPr>
          </a:lstStyle>
          <a:p/>
        </p:txBody>
      </p:sp>
      <p:sp>
        <p:nvSpPr>
          <p:cNvPr id="82" name="Google Shape;82;p35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" type="body"/>
          </p:nvPr>
        </p:nvSpPr>
        <p:spPr>
          <a:xfrm rot="5400000">
            <a:off x="3241357" y="-1038792"/>
            <a:ext cx="3597912" cy="8694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/>
          <p:nvPr>
            <p:ph type="title"/>
          </p:nvPr>
        </p:nvSpPr>
        <p:spPr>
          <a:xfrm rot="5400000">
            <a:off x="5898000" y="1617851"/>
            <a:ext cx="4805529" cy="2173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" type="body"/>
          </p:nvPr>
        </p:nvSpPr>
        <p:spPr>
          <a:xfrm rot="5400000">
            <a:off x="1487726" y="-492779"/>
            <a:ext cx="4805529" cy="6394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8"/>
          <p:cNvGrpSpPr/>
          <p:nvPr/>
        </p:nvGrpSpPr>
        <p:grpSpPr>
          <a:xfrm>
            <a:off x="6722852" y="5"/>
            <a:ext cx="3357497" cy="2238704"/>
            <a:chOff x="6098378" y="5"/>
            <a:chExt cx="3045625" cy="2030570"/>
          </a:xfrm>
        </p:grpSpPr>
        <p:sp>
          <p:nvSpPr>
            <p:cNvPr id="99" name="Google Shape;99;p3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38"/>
          <p:cNvSpPr txBox="1"/>
          <p:nvPr>
            <p:ph type="title"/>
          </p:nvPr>
        </p:nvSpPr>
        <p:spPr>
          <a:xfrm>
            <a:off x="343628" y="1384756"/>
            <a:ext cx="9393300" cy="22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800" lIns="100800" spcFirstLastPara="1" rIns="100800" wrap="square" tIns="1008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Font typeface="Calibri"/>
              <a:buNone/>
              <a:defRPr sz="1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00"/>
              <a:buNone/>
              <a:defRPr sz="1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38"/>
          <p:cNvSpPr txBox="1"/>
          <p:nvPr>
            <p:ph idx="1" type="body"/>
          </p:nvPr>
        </p:nvSpPr>
        <p:spPr>
          <a:xfrm>
            <a:off x="343628" y="3714467"/>
            <a:ext cx="93933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55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38"/>
          <p:cNvSpPr txBox="1"/>
          <p:nvPr>
            <p:ph idx="12" type="sldNum"/>
          </p:nvPr>
        </p:nvSpPr>
        <p:spPr>
          <a:xfrm>
            <a:off x="9327038" y="5127794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8"/>
              <a:buFont typeface="Calibri"/>
              <a:buNone/>
              <a:defRPr b="0" i="0" sz="36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5602" lvl="0" marL="4572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b="0" i="0" sz="2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583" lvl="1" marL="9144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3629" lvl="2" marL="13716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4"/>
              <a:buFont typeface="Arial"/>
              <a:buChar char="•"/>
              <a:defRPr b="0" i="0" sz="16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088" lvl="3" marL="18288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088" lvl="4" marL="22860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088" lvl="5" marL="27432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088" lvl="6" marL="32004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088" lvl="7" marL="36576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088" lvl="8" marL="41148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92"/>
              <a:buFont typeface="Calibri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/>
          <p:nvPr/>
        </p:nvSpPr>
        <p:spPr>
          <a:xfrm>
            <a:off x="0" y="0"/>
            <a:ext cx="10078104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ipt de computador num ecrã" id="112" name="Google Shape;112;p1"/>
          <p:cNvPicPr preferRelativeResize="0"/>
          <p:nvPr/>
        </p:nvPicPr>
        <p:blipFill rotWithShape="1">
          <a:blip r:embed="rId3">
            <a:alphaModFix/>
          </a:blip>
          <a:srcRect b="9749" l="0" r="2" t="5978"/>
          <a:stretch/>
        </p:blipFill>
        <p:spPr>
          <a:xfrm>
            <a:off x="-2519" y="10"/>
            <a:ext cx="10080623" cy="567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/>
          <p:nvPr/>
        </p:nvSpPr>
        <p:spPr>
          <a:xfrm>
            <a:off x="0" y="1825359"/>
            <a:ext cx="10080624" cy="261462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30196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>
            <p:ph type="ctrTitle"/>
          </p:nvPr>
        </p:nvSpPr>
        <p:spPr>
          <a:xfrm>
            <a:off x="907256" y="269181"/>
            <a:ext cx="8316515" cy="295581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Calibri"/>
              <a:buNone/>
            </a:pPr>
            <a:r>
              <a:rPr lang="pt-PT" sz="4300">
                <a:solidFill>
                  <a:srgbClr val="FFFFFF"/>
                </a:solidFill>
              </a:rPr>
              <a:t>Programação Orientada a Objetos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909547" y="3366976"/>
            <a:ext cx="8316516" cy="106060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</a:pPr>
            <a:r>
              <a:rPr lang="pt-PT">
                <a:solidFill>
                  <a:srgbClr val="FFFFFF"/>
                </a:solidFill>
              </a:rPr>
              <a:t>Prof. MSc. Márcio Belloni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PT"/>
              <a:t>Cronograma – Moóca – Quarta-Feira</a:t>
            </a:r>
            <a:endParaRPr/>
          </a:p>
        </p:txBody>
      </p:sp>
      <p:graphicFrame>
        <p:nvGraphicFramePr>
          <p:cNvPr id="121" name="Google Shape;121;p2"/>
          <p:cNvGraphicFramePr/>
          <p:nvPr/>
        </p:nvGraphicFramePr>
        <p:xfrm>
          <a:off x="693738" y="1509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{E8ACF39A-2C35-4303-B2D2-3A7FD282EF5D}</a:tableStyleId>
              </a:tblPr>
              <a:tblGrid>
                <a:gridCol w="1241875"/>
                <a:gridCol w="1241875"/>
                <a:gridCol w="1241875"/>
                <a:gridCol w="1241875"/>
                <a:gridCol w="1241875"/>
                <a:gridCol w="1241875"/>
                <a:gridCol w="1241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11/02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PT" sz="1200" u="none" cap="none" strike="noStrike"/>
                        <a:t>Apresentação e Introdução</a:t>
                      </a:r>
                      <a:endParaRPr sz="1488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18/02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Carnaval</a:t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25/02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Funções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Calibri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04/03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Calibri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Abstração (Classes e Métodos)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11/03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PT" sz="1400" u="none" cap="none" strike="noStrike">
                          <a:solidFill>
                            <a:schemeClr val="dk1"/>
                          </a:solidFill>
                        </a:rPr>
                        <a:t>Construtores</a:t>
                      </a:r>
                      <a:endParaRPr sz="1488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18/03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 u="none" cap="none" strike="noStrike">
                          <a:solidFill>
                            <a:schemeClr val="dk1"/>
                          </a:solidFill>
                        </a:rPr>
                        <a:t>Encapsulamento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25/03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b="0" i="0" sz="1488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>
                          <a:solidFill>
                            <a:schemeClr val="dk1"/>
                          </a:solidFill>
                        </a:rPr>
                        <a:t>Herança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01/04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PT" sz="1400" u="none" cap="none" strike="noStrike">
                          <a:solidFill>
                            <a:schemeClr val="dk1"/>
                          </a:solidFill>
                        </a:rPr>
                        <a:t>Métodos Get e Set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08/04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15/04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AU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22/04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29/04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b="0" i="0" sz="1488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PT" sz="1400" u="none" cap="none" strike="noStrike">
                          <a:solidFill>
                            <a:srgbClr val="000000"/>
                          </a:solidFill>
                        </a:rPr>
                        <a:t>Polimorfismo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06/05</a:t>
                      </a:r>
                      <a:endParaRPr sz="1400" u="none" cap="none" strike="noStrike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Classes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Arquivos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Importações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13/05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Classes Abstratas </a:t>
                      </a:r>
                      <a:endParaRPr sz="1488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20/05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b="0" i="0" sz="1488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Interfaces</a:t>
                      </a:r>
                      <a:endParaRPr sz="1488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27/05</a:t>
                      </a:r>
                      <a:endParaRPr b="0" i="0"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Calibri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Tratamento de Exceções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03/06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Tópicos Especiais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10/06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17/06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Calibri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23/06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25/06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PT"/>
              <a:t>Cronograma – Paulista – Quinta-Feira</a:t>
            </a:r>
            <a:endParaRPr/>
          </a:p>
        </p:txBody>
      </p:sp>
      <p:graphicFrame>
        <p:nvGraphicFramePr>
          <p:cNvPr id="127" name="Google Shape;127;p3"/>
          <p:cNvGraphicFramePr/>
          <p:nvPr/>
        </p:nvGraphicFramePr>
        <p:xfrm>
          <a:off x="693738" y="1509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{E8ACF39A-2C35-4303-B2D2-3A7FD282EF5D}</a:tableStyleId>
              </a:tblPr>
              <a:tblGrid>
                <a:gridCol w="1241875"/>
                <a:gridCol w="1241875"/>
                <a:gridCol w="1241875"/>
                <a:gridCol w="1241875"/>
                <a:gridCol w="1241875"/>
                <a:gridCol w="1241875"/>
                <a:gridCol w="1241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12/02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PT" sz="1200" u="none" cap="none" strike="noStrike"/>
                        <a:t>Apresentação e Introdução</a:t>
                      </a:r>
                      <a:endParaRPr sz="1488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19/02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Funções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26/02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Calibri"/>
                        <a:buNone/>
                      </a:pP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Abstração (Classes e </a:t>
                      </a:r>
                      <a:r>
                        <a:rPr lang="pt-PT" sz="1488" u="none" cap="none" strike="noStrike"/>
                        <a:t>Métodos</a:t>
                      </a:r>
                      <a:r>
                        <a:rPr b="0" i="0" lang="pt-PT" sz="1488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sz="1488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05/03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PT" sz="1200" u="none" cap="none" strike="noStrike">
                          <a:solidFill>
                            <a:schemeClr val="dk1"/>
                          </a:solidFill>
                        </a:rPr>
                        <a:t>Construtores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12/03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pt-PT" sz="1100" u="none" cap="none" strike="noStrike">
                          <a:solidFill>
                            <a:schemeClr val="dk1"/>
                          </a:solidFill>
                        </a:rPr>
                        <a:t>Encapsulamento</a:t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19/03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PT">
                          <a:solidFill>
                            <a:schemeClr val="dk1"/>
                          </a:solidFill>
                        </a:rPr>
                        <a:t>Herança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26/03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PT" sz="1400" u="none" cap="none" strike="noStrike">
                          <a:solidFill>
                            <a:schemeClr val="dk1"/>
                          </a:solidFill>
                        </a:rPr>
                        <a:t>Métodos Get e Set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02/04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PT" sz="1400" u="none" cap="none" strike="noStrike">
                          <a:solidFill>
                            <a:schemeClr val="dk1"/>
                          </a:solidFill>
                        </a:rPr>
                        <a:t>Polimorfismo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09/04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16/04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AU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23/04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30/04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Classes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Arquivos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Importações</a:t>
                      </a:r>
                      <a:endParaRPr b="0" i="0" sz="1488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07/05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Classes Abstratas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14/05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Interfaces</a:t>
                      </a:r>
                      <a:endParaRPr sz="1488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21/05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Calibri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Tratamento de Exceções</a:t>
                      </a:r>
                      <a:endParaRPr sz="1488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28/05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>
                          <a:solidFill>
                            <a:schemeClr val="dk1"/>
                          </a:solidFill>
                        </a:rPr>
                        <a:t>Tópicos Especiais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04/06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Feriado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11/06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18/06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88"/>
                        <a:buFont typeface="Calibri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23/06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A3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25/06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t/>
                      </a:r>
                      <a:endParaRPr sz="1488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88"/>
                        <a:buFont typeface="Arial"/>
                        <a:buNone/>
                      </a:pPr>
                      <a:r>
                        <a:rPr lang="pt-PT" sz="1488" u="none" cap="none" strike="noStrike"/>
                        <a:t>Vistas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c0e0f59c_0_0"/>
          <p:cNvSpPr txBox="1"/>
          <p:nvPr>
            <p:ph type="title"/>
          </p:nvPr>
        </p:nvSpPr>
        <p:spPr>
          <a:xfrm>
            <a:off x="949853" y="879288"/>
            <a:ext cx="73023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Gothic"/>
              <a:buNone/>
            </a:pPr>
            <a:r>
              <a:rPr lang="pt-PT" sz="3300">
                <a:solidFill>
                  <a:srgbClr val="FFFFFF"/>
                </a:solidFill>
              </a:rPr>
              <a:t>Programação Orientada à Objetos</a:t>
            </a:r>
            <a:endParaRPr/>
          </a:p>
        </p:txBody>
      </p:sp>
      <p:sp>
        <p:nvSpPr>
          <p:cNvPr id="133" name="Google Shape;133;g386c0e0f59c_0_0"/>
          <p:cNvSpPr txBox="1"/>
          <p:nvPr>
            <p:ph idx="1" type="body"/>
          </p:nvPr>
        </p:nvSpPr>
        <p:spPr>
          <a:xfrm>
            <a:off x="954942" y="2929784"/>
            <a:ext cx="72972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775" lIns="75600" spcFirstLastPara="1" rIns="75600" wrap="square" tIns="37775">
            <a:normAutofit/>
          </a:bodyPr>
          <a:lstStyle/>
          <a:p>
            <a:pPr indent="-279400" lvl="0" marL="279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pt-PT" sz="2315"/>
              <a:t>Artigos Científicos</a:t>
            </a:r>
            <a:endParaRPr sz="2315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315"/>
          </a:p>
          <a:p>
            <a:pPr indent="-3048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pt-PT" sz="2315"/>
              <a:t>Vamos inserir artigos sobre os assuntos que farão parte da matéria dada e usados nas avaliações.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>
            <p:ph type="title"/>
          </p:nvPr>
        </p:nvSpPr>
        <p:spPr>
          <a:xfrm>
            <a:off x="395205" y="928027"/>
            <a:ext cx="3326606" cy="26493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lang="pt-PT" sz="3900"/>
              <a:t>Programação orientada a objetos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395204" y="4029184"/>
            <a:ext cx="3326606" cy="998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</a:pPr>
            <a:r>
              <a:rPr b="1" lang="pt-PT"/>
              <a:t>Herança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1" name="Google Shape;141;p4"/>
          <p:cNvSpPr/>
          <p:nvPr/>
        </p:nvSpPr>
        <p:spPr>
          <a:xfrm rot="5400000">
            <a:off x="628318" y="286755"/>
            <a:ext cx="120972" cy="582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97725" y="3759629"/>
            <a:ext cx="3326607" cy="15121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at design with people. oop - object oriented programming acronym. posters  for the wall • posters service, blog, marketing | myloview.com" id="143" name="Google Shape;143;p4"/>
          <p:cNvPicPr preferRelativeResize="0"/>
          <p:nvPr/>
        </p:nvPicPr>
        <p:blipFill rotWithShape="1">
          <a:blip r:embed="rId3">
            <a:alphaModFix/>
          </a:blip>
          <a:srcRect b="7849" l="0" r="4" t="6074"/>
          <a:stretch/>
        </p:blipFill>
        <p:spPr>
          <a:xfrm>
            <a:off x="4025376" y="222647"/>
            <a:ext cx="6055249" cy="5251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pt-PT"/>
              <a:t>Introdução à Herança</a:t>
            </a:r>
            <a:endParaRPr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Herança é o mecanismo pelo qual uma classe filha (subclasse ou derived class) obtém automaticamente todos os atributos e métodos de uma ou mais classes pai (superclasse ou base class), podendo estendê-los ou modificá-los.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Matematicamente, podemos pensar em herança como uma relação de subtipagem: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Filha ⊆ Pai (todo objeto da filha é também um objeto da pai – Princípio de Substituição de Liskov, Liskov Substitution Principle – LSP).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pt-PT"/>
              <a:t>Introdução à Herança</a:t>
            </a:r>
            <a:endParaRPr/>
          </a:p>
        </p:txBody>
      </p:sp>
      <p:sp>
        <p:nvSpPr>
          <p:cNvPr id="155" name="Google Shape;155;p6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PT" sz="2400"/>
              <a:t>Por que herança existe? (fundamentação teórica)</a:t>
            </a:r>
            <a:endParaRPr sz="2400"/>
          </a:p>
          <a:p>
            <a:pPr indent="-228600" lvl="0" marL="4572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Reutilização de código (DRY – Don’t Repeat Yourself).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Modelagem de hierarquias do mundo real (taxonomia biológica, organogramas empresariais, GUI frameworks).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Extensibilidade sem alterar código existente (Open-Closed Principle – OCP).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Polimorfismo (veremos adiante).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954942" y="805150"/>
            <a:ext cx="7244137" cy="584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0236"/>
              <a:buNone/>
            </a:pPr>
            <a:r>
              <a:rPr lang="pt-PT"/>
              <a:t>Desvantagens teóricas</a:t>
            </a:r>
            <a:endParaRPr/>
          </a:p>
        </p:txBody>
      </p:sp>
      <p:pic>
        <p:nvPicPr>
          <p:cNvPr descr="Web Design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341" y="2295319"/>
            <a:ext cx="2536001" cy="2536001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pic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4391225" y="2152725"/>
            <a:ext cx="48633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1254" lvl="0" marL="457200" rtl="0" algn="l">
              <a:spcBef>
                <a:spcPts val="827"/>
              </a:spcBef>
              <a:spcAft>
                <a:spcPts val="0"/>
              </a:spcAft>
              <a:buSzPts val="2404"/>
              <a:buChar char="•"/>
            </a:pPr>
            <a:r>
              <a:rPr lang="pt-PT" sz="1400">
                <a:latin typeface="Arial"/>
                <a:ea typeface="Arial"/>
                <a:cs typeface="Arial"/>
                <a:sym typeface="Arial"/>
              </a:rPr>
              <a:t>Acoplamento forte entre classes (fragilidade da base).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27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81254" lvl="0" marL="457200" rtl="0" algn="l">
              <a:spcBef>
                <a:spcPts val="827"/>
              </a:spcBef>
              <a:spcAft>
                <a:spcPts val="0"/>
              </a:spcAft>
              <a:buSzPts val="2404"/>
              <a:buChar char="•"/>
            </a:pPr>
            <a:r>
              <a:rPr lang="pt-PT" sz="1400">
                <a:latin typeface="Arial"/>
                <a:ea typeface="Arial"/>
                <a:cs typeface="Arial"/>
                <a:sym typeface="Arial"/>
              </a:rPr>
              <a:t>Hierarquias profundas geram complexidade cognitiva (God Class antipattern).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954951" y="805150"/>
            <a:ext cx="2822400" cy="3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pt-PT"/>
              <a:t>Analogia clássica</a:t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>
            <a:off x="1939596" y="3941307"/>
            <a:ext cx="4890772" cy="1301424"/>
            <a:chOff x="393680" y="1518328"/>
            <a:chExt cx="4890772" cy="1301424"/>
          </a:xfrm>
        </p:grpSpPr>
        <p:sp>
          <p:nvSpPr>
            <p:cNvPr id="169" name="Google Shape;169;p8"/>
            <p:cNvSpPr/>
            <p:nvPr/>
          </p:nvSpPr>
          <p:spPr>
            <a:xfrm>
              <a:off x="393680" y="1811148"/>
              <a:ext cx="715783" cy="71578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4000" r="-400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1503145" y="1518328"/>
              <a:ext cx="3781307" cy="1301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503145" y="1518328"/>
              <a:ext cx="3781307" cy="1301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725" lIns="137725" spcFirstLastPara="1" rIns="137725" wrap="square" tIns="137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8"/>
          <p:cNvSpPr txBox="1"/>
          <p:nvPr/>
        </p:nvSpPr>
        <p:spPr>
          <a:xfrm>
            <a:off x="4399900" y="2062375"/>
            <a:ext cx="5048700" cy="24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200">
                <a:solidFill>
                  <a:schemeClr val="dk1"/>
                </a:solidFill>
              </a:rPr>
              <a:t>Animal → Mamífero → Cachorro (herança em cadeia).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693043" y="301905"/>
            <a:ext cx="8694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236"/>
              <a:buFont typeface="Arial"/>
              <a:buNone/>
            </a:pPr>
            <a:r>
              <a:rPr lang="pt-PT"/>
              <a:t>Tipos de Herança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477"/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>
            <p:ph idx="1" type="body"/>
          </p:nvPr>
        </p:nvSpPr>
        <p:spPr>
          <a:xfrm>
            <a:off x="693043" y="1509521"/>
            <a:ext cx="8694600" cy="359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827"/>
              </a:spcBef>
              <a:spcAft>
                <a:spcPts val="0"/>
              </a:spcAft>
              <a:buNone/>
            </a:pPr>
            <a:r>
              <a:rPr b="1" lang="pt-PT" sz="1100">
                <a:latin typeface="Arial"/>
                <a:ea typeface="Arial"/>
                <a:cs typeface="Arial"/>
                <a:sym typeface="Arial"/>
              </a:rPr>
              <a:t>3.1 Herança Única (Single Inheritance)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27"/>
              </a:spcBef>
              <a:spcAft>
                <a:spcPts val="0"/>
              </a:spcAft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Uma subclasse herda de exatamente uma superclasse.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Mais simples e recomendada na maioria dos casos.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100">
                <a:latin typeface="Arial"/>
                <a:ea typeface="Arial"/>
                <a:cs typeface="Arial"/>
                <a:sym typeface="Arial"/>
              </a:rPr>
              <a:t>3.2 Herança Múltipla (Multiple Inheritance)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Python permite!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100">
                <a:latin typeface="Arial"/>
                <a:ea typeface="Arial"/>
                <a:cs typeface="Arial"/>
                <a:sym typeface="Arial"/>
              </a:rPr>
              <a:t>3.3 Herança Multinível (Multilevel)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Cadeia: Avô → Pai → Filho.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100">
                <a:latin typeface="Arial"/>
                <a:ea typeface="Arial"/>
                <a:cs typeface="Arial"/>
                <a:sym typeface="Arial"/>
              </a:rPr>
              <a:t>3.4 Herança Hierárquica (Hierarchical)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Várias subclasses herdam da mesma superclasse (ex: Gato e Cachorro herdam de Animal).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100">
                <a:latin typeface="Arial"/>
                <a:ea typeface="Arial"/>
                <a:cs typeface="Arial"/>
                <a:sym typeface="Arial"/>
              </a:rPr>
              <a:t>3.5 Herança Híbrida (Hybrid)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100">
                <a:latin typeface="Arial"/>
                <a:ea typeface="Arial"/>
                <a:cs typeface="Arial"/>
                <a:sym typeface="Arial"/>
              </a:rPr>
              <a:t>Combinação dos tipos acima (ex: múltipla + multinível).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954951" y="805150"/>
            <a:ext cx="809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800" lIns="75600" spcFirstLastPara="1" rIns="75600" wrap="square" tIns="378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0236"/>
              <a:buNone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Sobrescrita de Métodos (Method Overriding) e super()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954949" y="2152725"/>
            <a:ext cx="78360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800" lIns="75600" spcFirstLastPara="1" rIns="75600" wrap="square" tIns="37800">
            <a:normAutofit/>
          </a:bodyPr>
          <a:lstStyle/>
          <a:p>
            <a:pPr indent="-3719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58"/>
              <a:buFont typeface="Noto Sans Symbols"/>
              <a:buChar char="►"/>
            </a:pPr>
            <a:r>
              <a:rPr b="1" lang="pt-PT" sz="1800">
                <a:solidFill>
                  <a:schemeClr val="dk1"/>
                </a:solidFill>
              </a:rPr>
              <a:t>Conceito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Sobrescrita = redefinir método da superclasse mantendo a mesma assinatura.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</a:rPr>
              <a:t>Regras rigorosas do Python: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PT" sz="1800">
                <a:solidFill>
                  <a:schemeClr val="dk1"/>
                </a:solidFill>
              </a:rPr>
              <a:t>A assinatura deve ser compatível (LSP).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PT" sz="1800">
                <a:solidFill>
                  <a:schemeClr val="dk1"/>
                </a:solidFill>
              </a:rPr>
              <a:t>Pode chamar o método original com super().</a:t>
            </a:r>
            <a:endParaRPr sz="2523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0236"/>
              <a:buNone/>
            </a:pPr>
            <a:r>
              <a:rPr lang="pt-PT"/>
              <a:t>Method Resolution Order (MRO) e o Problema do Diamante</a:t>
            </a:r>
            <a:endParaRPr/>
          </a:p>
        </p:txBody>
      </p:sp>
      <p:sp>
        <p:nvSpPr>
          <p:cNvPr id="190" name="Google Shape;190;p13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219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4"/>
              <a:buChar char="•"/>
            </a:pPr>
            <a:r>
              <a:rPr lang="pt-PT"/>
              <a:t>uper() resolve dinamicamente via MRO.</a:t>
            </a:r>
            <a:endParaRPr/>
          </a:p>
          <a:p>
            <a:pPr indent="-36219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4"/>
              <a:buChar char="•"/>
            </a:pPr>
            <a:r>
              <a:rPr lang="pt-PT"/>
              <a:t>Em herança múltipla, super() chama o próximo na cadeia linearizada – não necessariamente o pai direto!</a:t>
            </a:r>
            <a:endParaRPr/>
          </a:p>
          <a:p>
            <a:pPr indent="-3428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Conceito teórico central do Python</a:t>
            </a:r>
            <a:endParaRPr/>
          </a:p>
          <a:p>
            <a:pPr indent="-3428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MRO = ordem linearizada em que o Python procura atributos/métodos.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pt-PT"/>
              <a:t>Algoritmo C3 Linearization (Python 2.3+)</a:t>
            </a:r>
            <a:endParaRPr/>
          </a:p>
        </p:txBody>
      </p:sp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SzPts val="3000"/>
              <a:buChar char="•"/>
            </a:pPr>
            <a:r>
              <a:rPr lang="pt-PT" sz="2300">
                <a:latin typeface="Arial"/>
                <a:ea typeface="Arial"/>
                <a:cs typeface="Arial"/>
                <a:sym typeface="Arial"/>
              </a:rPr>
              <a:t>Regra: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SzPts val="3000"/>
              <a:buChar char="•"/>
            </a:pPr>
            <a:r>
              <a:rPr lang="pt-PT" sz="2300">
                <a:latin typeface="Arial"/>
                <a:ea typeface="Arial"/>
                <a:cs typeface="Arial"/>
                <a:sym typeface="Arial"/>
              </a:rPr>
              <a:t>Preservar ordem local das superclasses.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SzPts val="3000"/>
              <a:buChar char="•"/>
            </a:pPr>
            <a:r>
              <a:rPr lang="pt-PT" sz="2300">
                <a:latin typeface="Arial"/>
                <a:ea typeface="Arial"/>
                <a:cs typeface="Arial"/>
                <a:sym typeface="Arial"/>
              </a:rPr>
              <a:t>Não alterar ordem das superclasses anteriores.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SzPts val="3000"/>
              <a:buChar char="•"/>
            </a:pPr>
            <a:r>
              <a:rPr lang="pt-PT" sz="2300">
                <a:latin typeface="Arial"/>
                <a:ea typeface="Arial"/>
                <a:cs typeface="Arial"/>
                <a:sym typeface="Arial"/>
              </a:rPr>
              <a:t>Monotonicidade.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3943450"/>
            <a:ext cx="1699500" cy="14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pt-PT"/>
              <a:t>Algoritmo C3 Linearization (Python 2.3+)</a:t>
            </a:r>
            <a:endParaRPr/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693043" y="1509521"/>
            <a:ext cx="8694600" cy="3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PT" sz="2000">
                <a:latin typeface="Arial"/>
                <a:ea typeface="Arial"/>
                <a:cs typeface="Arial"/>
                <a:sym typeface="Arial"/>
              </a:rPr>
              <a:t>C3 garante consistência e evita ambiguidade.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PT" sz="2000">
                <a:latin typeface="Arial"/>
                <a:ea typeface="Arial"/>
                <a:cs typeface="Arial"/>
                <a:sym typeface="Arial"/>
              </a:rPr>
              <a:t>Comparação: C++ e Java proíbem herança múltipla exatamente por causa do diamante. Python resolve elegantemente.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4" name="Google Shape;2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49" y="2565549"/>
            <a:ext cx="5047775" cy="29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2174" y="3241549"/>
            <a:ext cx="2268725" cy="19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-2" y="0"/>
            <a:ext cx="4246538" cy="5681834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Colab: The Ultimate Free Cloud Computing Tool That Transforms Your  Workflow" id="212" name="Google Shape;212;p23"/>
          <p:cNvPicPr preferRelativeResize="0"/>
          <p:nvPr/>
        </p:nvPicPr>
        <p:blipFill rotWithShape="1">
          <a:blip r:embed="rId3">
            <a:alphaModFix/>
          </a:blip>
          <a:srcRect b="1" l="1375" r="8677" t="0"/>
          <a:stretch/>
        </p:blipFill>
        <p:spPr>
          <a:xfrm>
            <a:off x="2410565" y="10"/>
            <a:ext cx="7670060" cy="5670540"/>
          </a:xfrm>
          <a:custGeom>
            <a:rect b="b" l="l" r="r" t="t"/>
            <a:pathLst>
              <a:path extrusionOk="0" h="6871647" w="9276545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pic>
      <p:sp>
        <p:nvSpPr>
          <p:cNvPr id="213" name="Google Shape;213;p23"/>
          <p:cNvSpPr txBox="1"/>
          <p:nvPr>
            <p:ph type="title"/>
          </p:nvPr>
        </p:nvSpPr>
        <p:spPr>
          <a:xfrm>
            <a:off x="547287" y="2358496"/>
            <a:ext cx="2614364" cy="21830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lang="pt-PT" sz="3000">
                <a:solidFill>
                  <a:srgbClr val="262626"/>
                </a:solidFill>
              </a:rPr>
              <a:t>Python</a:t>
            </a:r>
            <a:endParaRPr/>
          </a:p>
        </p:txBody>
      </p:sp>
      <p:sp>
        <p:nvSpPr>
          <p:cNvPr id="214" name="Google Shape;214;p23"/>
          <p:cNvSpPr txBox="1"/>
          <p:nvPr>
            <p:ph idx="2" type="body"/>
          </p:nvPr>
        </p:nvSpPr>
        <p:spPr>
          <a:xfrm>
            <a:off x="547286" y="4693956"/>
            <a:ext cx="2733550" cy="5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None/>
            </a:pPr>
            <a:r>
              <a:rPr lang="pt-PT" sz="1300">
                <a:solidFill>
                  <a:srgbClr val="262626"/>
                </a:solidFill>
              </a:rPr>
              <a:t>Let’s code!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Office 2013 - 2022">
  <a:themeElements>
    <a:clrScheme name="Tema 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